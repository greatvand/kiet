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JetBrains Mono" panose="02000009000000000000" pitchFamily="49"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takes containers built with tools such as Docker and runs them across many machines as one system. The key idea is the declarative model: you state what you want, for example three replicas of a web app, and Kubernetes keeps working to make the cluster match. Pods, Deployments and Services are the first objects most people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reused ideas from Borg and its successor Omega, but its code was written from scratch in Go. Key dates: open-sourced on 6 June 2014; version 1.0 on 21 July 2015, when it became the seed project of the newly formed Cloud Native Computing Foundation (CNCF); first project to graduate from the foundation, on 6 March 2018. Graduated is the foundation’s highest maturity level, above sandbox and incubating. In 2017 Docker, Microsoft Azure and Amazon Web Services announced Kubernetes support; the managed cloud services that followed are Azure Kubernetes Service (AKS) and Amazon Elastic Kubernetes Service (EKS). Version 1.24 (May 2022) removed dockershim, so clusters now use runtimes that implement the Container Runtime Interface (CRI), such as containerd or CRI-O. Images built with Docker follow the Open Container Initiative (OCI) image format and still run. Version 1.37, themed “Garhwal” after the Himalayan region of Uttarakhand, was released on 26 August 2026, and version 1.38 is expected in December 2026. Sources: kubernetes.io, CNCF, IBM, InfoQ.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advantage maps to a feature: liveness and readiness probes (self-healing); the Horizontal Pod Autoscaler plus a node autoscaler such as Cluster Autoscaler or Karpenter (scaling); Deployments and kubectl rollout undo (rolling updates); Services and cluster DNS (discovery and load balancing); resource requests and limits used by the scheduler (efficiency); and the Certified Kubernetes conformance program (portability).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brings its own operating work: networking, storage, access control (RBAC) and regular upgrades, since each minor release gets roughly a year of patch support. Managed services such as Amazon EKS, Azure AKS and Google GKE run the control plane for you, which lowers the entry cost but not the learning curve. For a single service, Docker Compose, a VM, a PaaS or serverless functions are often faster to set up and cheaper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from the top. Every request, from kubectl or from any other component, goes through the API server, and only the API server reads and writes etcd. The scheduler watches for Pods that have no node yet and assigns one. Controllers in the controller manager compare desired and actual state and act on the difference. On each worker node, the kubelet asks the container runtime (for example containerd or CRI-O, through the Container Runtime Interface) to start the Pod’s containers, and kube-proxy sets up network rules so Service traffic reaches the right Pods. Older material calls the control plane node the “master”; current Kubernetes documentation uses “control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46546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46546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B3FF"/>
                </a:solidFill>
                <a:latin typeface="JetBrains Mono" pitchFamily="49" charset="0"/>
                <a:ea typeface="JetBrains Mono" pitchFamily="49" charset="-122"/>
                <a:cs typeface="JetBrains Mono" pitchFamily="49" charset="-120"/>
              </a:rPr>
              <a:t>CONTAINER ORCHESTRATION</a:t>
            </a:r>
            <a:endParaRPr lang="en-US" sz="1200" dirty="0"/>
          </a:p>
        </p:txBody>
      </p:sp>
      <p:sp>
        <p:nvSpPr>
          <p:cNvPr id="3" name="Text 1"/>
          <p:cNvSpPr/>
          <p:nvPr>
            <p:ph type="title"/>
          </p:nvPr>
        </p:nvSpPr>
        <p:spPr>
          <a:xfrm>
            <a:off x="812800" y="1178560"/>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00" kern="0" dirty="0">
                <a:solidFill>
                  <a:srgbClr val="F2F4F8"/>
                </a:solidFill>
                <a:latin typeface="IBM Plex Sans" pitchFamily="34" charset="0"/>
                <a:ea typeface="IBM Plex Sans" pitchFamily="34" charset="-122"/>
                <a:cs typeface="IBM Plex Sans" pitchFamily="34" charset="-120"/>
              </a:rPr>
              <a:t>Kubernetes</a:t>
            </a:r>
            <a:endParaRPr lang="en-US" sz="5600" dirty="0"/>
          </a:p>
        </p:txBody>
      </p:sp>
      <p:sp>
        <p:nvSpPr>
          <p:cNvPr id="4" name="Text 2"/>
          <p:cNvSpPr/>
          <p:nvPr/>
        </p:nvSpPr>
        <p:spPr>
          <a:xfrm>
            <a:off x="812800" y="2077720"/>
            <a:ext cx="8110220"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D6DEEA"/>
                </a:solidFill>
                <a:latin typeface="IBM Plex Sans" pitchFamily="34" charset="0"/>
                <a:ea typeface="IBM Plex Sans" pitchFamily="34" charset="-122"/>
                <a:cs typeface="IBM Plex Sans" pitchFamily="34" charset="-120"/>
              </a:rPr>
              <a:t>An open-source platform that deploys, scales and manages containerized applications across a cluster of machines.</a:t>
            </a:r>
            <a:endParaRPr lang="en-US" sz="1700" dirty="0"/>
          </a:p>
        </p:txBody>
      </p:sp>
      <p:sp>
        <p:nvSpPr>
          <p:cNvPr id="5" name="Text 3"/>
          <p:cNvSpPr/>
          <p:nvPr/>
        </p:nvSpPr>
        <p:spPr>
          <a:xfrm>
            <a:off x="812800" y="28130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The name is Greek for “helmsman” or “pilot”. In K8s, the 8 stands for the eight letters between K and s.</a:t>
            </a:r>
            <a:endParaRPr lang="en-US" sz="1200" dirty="0"/>
          </a:p>
        </p:txBody>
      </p:sp>
      <p:sp>
        <p:nvSpPr>
          <p:cNvPr id="6" name="Shape 4"/>
          <p:cNvSpPr/>
          <p:nvPr/>
        </p:nvSpPr>
        <p:spPr>
          <a:xfrm>
            <a:off x="815975" y="3998595"/>
            <a:ext cx="3380264" cy="2043430"/>
          </a:xfrm>
          <a:prstGeom prst="roundRect">
            <a:avLst>
              <a:gd name="adj" fmla="val 4817"/>
            </a:avLst>
          </a:prstGeom>
          <a:solidFill>
            <a:srgbClr val="172840"/>
          </a:solidFill>
          <a:ln w="6350">
            <a:solidFill>
              <a:srgbClr val="2A3F5E"/>
            </a:solidFill>
            <a:prstDash val="solid"/>
          </a:ln>
        </p:spPr>
      </p:sp>
      <p:sp>
        <p:nvSpPr>
          <p:cNvPr id="7" name="Shape 5"/>
          <p:cNvSpPr/>
          <p:nvPr/>
        </p:nvSpPr>
        <p:spPr>
          <a:xfrm>
            <a:off x="1071880" y="4254500"/>
            <a:ext cx="355600" cy="38100"/>
          </a:xfrm>
          <a:prstGeom prst="roundRect">
            <a:avLst>
              <a:gd name="adj" fmla="val 50000"/>
            </a:avLst>
          </a:prstGeom>
          <a:solidFill>
            <a:srgbClr val="326CE5"/>
          </a:solidFill>
          <a:ln/>
        </p:spPr>
      </p:sp>
      <p:sp>
        <p:nvSpPr>
          <p:cNvPr id="8" name="Text 6"/>
          <p:cNvSpPr/>
          <p:nvPr/>
        </p:nvSpPr>
        <p:spPr>
          <a:xfrm>
            <a:off x="1071880" y="4394200"/>
            <a:ext cx="295450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4F8"/>
                </a:solidFill>
                <a:latin typeface="IBM Plex Sans" pitchFamily="34" charset="0"/>
                <a:ea typeface="IBM Plex Sans" pitchFamily="34" charset="-122"/>
                <a:cs typeface="IBM Plex Sans" pitchFamily="34" charset="-120"/>
              </a:rPr>
              <a:t>What it does</a:t>
            </a:r>
            <a:endParaRPr lang="en-US" sz="1700" dirty="0"/>
          </a:p>
        </p:txBody>
      </p:sp>
      <p:sp>
        <p:nvSpPr>
          <p:cNvPr id="9" name="Text 7"/>
          <p:cNvSpPr/>
          <p:nvPr/>
        </p:nvSpPr>
        <p:spPr>
          <a:xfrm>
            <a:off x="1071880" y="4754880"/>
            <a:ext cx="2954507"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4D6"/>
                </a:solidFill>
                <a:latin typeface="IBM Plex Sans" pitchFamily="34" charset="0"/>
                <a:ea typeface="IBM Plex Sans" pitchFamily="34" charset="-122"/>
                <a:cs typeface="IBM Plex Sans" pitchFamily="34" charset="-120"/>
              </a:rPr>
              <a:t>Decides which machine runs each container, restarts containers that fail and scales them with demand.</a:t>
            </a:r>
            <a:endParaRPr lang="en-US" sz="1400" dirty="0"/>
          </a:p>
        </p:txBody>
      </p:sp>
      <p:sp>
        <p:nvSpPr>
          <p:cNvPr id="10" name="Shape 8"/>
          <p:cNvSpPr/>
          <p:nvPr/>
        </p:nvSpPr>
        <p:spPr>
          <a:xfrm>
            <a:off x="4405789" y="3998595"/>
            <a:ext cx="3380343" cy="2043430"/>
          </a:xfrm>
          <a:prstGeom prst="roundRect">
            <a:avLst>
              <a:gd name="adj" fmla="val 4817"/>
            </a:avLst>
          </a:prstGeom>
          <a:solidFill>
            <a:srgbClr val="172840"/>
          </a:solidFill>
          <a:ln w="6350">
            <a:solidFill>
              <a:srgbClr val="2A3F5E"/>
            </a:solidFill>
            <a:prstDash val="solid"/>
          </a:ln>
        </p:spPr>
      </p:sp>
      <p:sp>
        <p:nvSpPr>
          <p:cNvPr id="11" name="Shape 9"/>
          <p:cNvSpPr/>
          <p:nvPr/>
        </p:nvSpPr>
        <p:spPr>
          <a:xfrm>
            <a:off x="4661694" y="4254500"/>
            <a:ext cx="355600" cy="38100"/>
          </a:xfrm>
          <a:prstGeom prst="roundRect">
            <a:avLst>
              <a:gd name="adj" fmla="val 50000"/>
            </a:avLst>
          </a:prstGeom>
          <a:solidFill>
            <a:srgbClr val="326CE5"/>
          </a:solidFill>
          <a:ln/>
        </p:spPr>
      </p:sp>
      <p:sp>
        <p:nvSpPr>
          <p:cNvPr id="12" name="Text 10"/>
          <p:cNvSpPr/>
          <p:nvPr/>
        </p:nvSpPr>
        <p:spPr>
          <a:xfrm>
            <a:off x="4661694" y="4394200"/>
            <a:ext cx="29545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4F8"/>
                </a:solidFill>
                <a:latin typeface="IBM Plex Sans" pitchFamily="34" charset="0"/>
                <a:ea typeface="IBM Plex Sans" pitchFamily="34" charset="-122"/>
                <a:cs typeface="IBM Plex Sans" pitchFamily="34" charset="-120"/>
              </a:rPr>
              <a:t>How it works</a:t>
            </a:r>
            <a:endParaRPr lang="en-US" sz="1700" dirty="0"/>
          </a:p>
        </p:txBody>
      </p:sp>
      <p:sp>
        <p:nvSpPr>
          <p:cNvPr id="13" name="Text 11"/>
          <p:cNvSpPr/>
          <p:nvPr/>
        </p:nvSpPr>
        <p:spPr>
          <a:xfrm>
            <a:off x="4661694" y="4754880"/>
            <a:ext cx="295458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4D6"/>
                </a:solidFill>
                <a:latin typeface="IBM Plex Sans" pitchFamily="34" charset="0"/>
                <a:ea typeface="IBM Plex Sans" pitchFamily="34" charset="-122"/>
                <a:cs typeface="IBM Plex Sans" pitchFamily="34" charset="-120"/>
              </a:rPr>
              <a:t>You declare the desired state in YAML. Controllers compare it with the actual state and close any gap.</a:t>
            </a:r>
            <a:endParaRPr lang="en-US" sz="1400" dirty="0"/>
          </a:p>
        </p:txBody>
      </p:sp>
      <p:sp>
        <p:nvSpPr>
          <p:cNvPr id="14" name="Shape 12"/>
          <p:cNvSpPr/>
          <p:nvPr/>
        </p:nvSpPr>
        <p:spPr>
          <a:xfrm>
            <a:off x="7995682" y="3998595"/>
            <a:ext cx="3380343" cy="2043430"/>
          </a:xfrm>
          <a:prstGeom prst="roundRect">
            <a:avLst>
              <a:gd name="adj" fmla="val 4817"/>
            </a:avLst>
          </a:prstGeom>
          <a:solidFill>
            <a:srgbClr val="172840"/>
          </a:solidFill>
          <a:ln w="6350">
            <a:solidFill>
              <a:srgbClr val="2A3F5E"/>
            </a:solidFill>
            <a:prstDash val="solid"/>
          </a:ln>
        </p:spPr>
      </p:sp>
      <p:sp>
        <p:nvSpPr>
          <p:cNvPr id="15" name="Shape 13"/>
          <p:cNvSpPr/>
          <p:nvPr/>
        </p:nvSpPr>
        <p:spPr>
          <a:xfrm>
            <a:off x="8251587" y="4254500"/>
            <a:ext cx="355600" cy="38100"/>
          </a:xfrm>
          <a:prstGeom prst="roundRect">
            <a:avLst>
              <a:gd name="adj" fmla="val 50000"/>
            </a:avLst>
          </a:prstGeom>
          <a:solidFill>
            <a:srgbClr val="326CE5"/>
          </a:solidFill>
          <a:ln/>
        </p:spPr>
      </p:sp>
      <p:sp>
        <p:nvSpPr>
          <p:cNvPr id="16" name="Text 14"/>
          <p:cNvSpPr/>
          <p:nvPr/>
        </p:nvSpPr>
        <p:spPr>
          <a:xfrm>
            <a:off x="8251587" y="4394200"/>
            <a:ext cx="295458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4F8"/>
                </a:solidFill>
                <a:latin typeface="IBM Plex Sans" pitchFamily="34" charset="0"/>
                <a:ea typeface="IBM Plex Sans" pitchFamily="34" charset="-122"/>
                <a:cs typeface="IBM Plex Sans" pitchFamily="34" charset="-120"/>
              </a:rPr>
              <a:t>Core building blocks</a:t>
            </a:r>
            <a:endParaRPr lang="en-US" sz="1700" dirty="0"/>
          </a:p>
        </p:txBody>
      </p:sp>
      <p:sp>
        <p:nvSpPr>
          <p:cNvPr id="17" name="Text 15"/>
          <p:cNvSpPr/>
          <p:nvPr/>
        </p:nvSpPr>
        <p:spPr>
          <a:xfrm>
            <a:off x="8251587" y="4754880"/>
            <a:ext cx="2954589" cy="105664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8C4D6"/>
                </a:solidFill>
                <a:latin typeface="IBM Plex Sans" pitchFamily="34" charset="0"/>
                <a:ea typeface="IBM Plex Sans" pitchFamily="34" charset="-122"/>
                <a:cs typeface="IBM Plex Sans" pitchFamily="34" charset="-120"/>
              </a:rPr>
              <a:t>Pods</a:t>
            </a:r>
            <a:r>
              <a:rPr lang="en-US" sz="1400" dirty="0">
                <a:solidFill>
                  <a:srgbClr val="B8C4D6"/>
                </a:solidFill>
                <a:latin typeface="IBM Plex Sans" pitchFamily="34" charset="0"/>
                <a:ea typeface="IBM Plex Sans" pitchFamily="34" charset="-122"/>
                <a:cs typeface="IBM Plex Sans" pitchFamily="34" charset="-120"/>
              </a:rPr>
              <a:t> run containers, </a:t>
            </a:r>
            <a:r>
              <a:rPr lang="en-US" sz="1400" b="1" dirty="0">
                <a:solidFill>
                  <a:srgbClr val="B8C4D6"/>
                </a:solidFill>
                <a:latin typeface="IBM Plex Sans" pitchFamily="34" charset="0"/>
                <a:ea typeface="IBM Plex Sans" pitchFamily="34" charset="-122"/>
                <a:cs typeface="IBM Plex Sans" pitchFamily="34" charset="-120"/>
              </a:rPr>
              <a:t>Deployments</a:t>
            </a:r>
            <a:r>
              <a:rPr lang="en-US" sz="1400" dirty="0">
                <a:solidFill>
                  <a:srgbClr val="B8C4D6"/>
                </a:solidFill>
                <a:latin typeface="IBM Plex Sans" pitchFamily="34" charset="0"/>
                <a:ea typeface="IBM Plex Sans" pitchFamily="34" charset="-122"/>
                <a:cs typeface="IBM Plex Sans" pitchFamily="34" charset="-120"/>
              </a:rPr>
              <a:t> keep the right number of Pods running and </a:t>
            </a:r>
            <a:r>
              <a:rPr lang="en-US" sz="1400" b="1" dirty="0">
                <a:solidFill>
                  <a:srgbClr val="B8C4D6"/>
                </a:solidFill>
                <a:latin typeface="IBM Plex Sans" pitchFamily="34" charset="0"/>
                <a:ea typeface="IBM Plex Sans" pitchFamily="34" charset="-122"/>
                <a:cs typeface="IBM Plex Sans" pitchFamily="34" charset="-120"/>
              </a:rPr>
              <a:t>Services</a:t>
            </a:r>
            <a:r>
              <a:rPr lang="en-US" sz="1400" dirty="0">
                <a:solidFill>
                  <a:srgbClr val="B8C4D6"/>
                </a:solidFill>
                <a:latin typeface="IBM Plex Sans" pitchFamily="34" charset="0"/>
                <a:ea typeface="IBM Plex Sans" pitchFamily="34" charset="-122"/>
                <a:cs typeface="IBM Plex Sans" pitchFamily="34" charset="-120"/>
              </a:rPr>
              <a:t> give them a stable address.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5FD0"/>
                </a:solidFill>
                <a:latin typeface="JetBrains Mono" pitchFamily="49" charset="0"/>
                <a:ea typeface="JetBrains Mono" pitchFamily="49" charset="-122"/>
                <a:cs typeface="JetBrains Mono" pitchFamily="49" charset="-120"/>
              </a:rPr>
              <a:t>HISTORY</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B2D"/>
                </a:solidFill>
                <a:latin typeface="IBM Plex Sans" pitchFamily="34" charset="0"/>
                <a:ea typeface="IBM Plex Sans" pitchFamily="34" charset="-122"/>
                <a:cs typeface="IBM Plex Sans" pitchFamily="34" charset="-120"/>
              </a:rPr>
              <a:t>How Kubernetes came to be</a:t>
            </a:r>
            <a:endParaRPr lang="en-US" sz="3200" dirty="0"/>
          </a:p>
        </p:txBody>
      </p:sp>
      <p:sp>
        <p:nvSpPr>
          <p:cNvPr id="4" name="Shape 2"/>
          <p:cNvSpPr/>
          <p:nvPr/>
        </p:nvSpPr>
        <p:spPr>
          <a:xfrm>
            <a:off x="812800" y="1967865"/>
            <a:ext cx="114300" cy="114300"/>
          </a:xfrm>
          <a:prstGeom prst="roundRect">
            <a:avLst>
              <a:gd name="adj" fmla="val 50000"/>
            </a:avLst>
          </a:prstGeom>
          <a:solidFill>
            <a:srgbClr val="326CE5"/>
          </a:solidFill>
          <a:ln/>
        </p:spPr>
      </p:sp>
      <p:sp>
        <p:nvSpPr>
          <p:cNvPr id="5" name="Shape 3"/>
          <p:cNvSpPr/>
          <p:nvPr/>
        </p:nvSpPr>
        <p:spPr>
          <a:xfrm>
            <a:off x="863600" y="2082165"/>
            <a:ext cx="12700" cy="139065"/>
          </a:xfrm>
          <a:prstGeom prst="rect">
            <a:avLst/>
          </a:prstGeom>
          <a:solidFill>
            <a:srgbClr val="C5CFDD"/>
          </a:solidFill>
          <a:ln/>
        </p:spPr>
      </p:sp>
      <p:sp>
        <p:nvSpPr>
          <p:cNvPr id="6" name="Text 4"/>
          <p:cNvSpPr/>
          <p:nvPr/>
        </p:nvSpPr>
        <p:spPr>
          <a:xfrm>
            <a:off x="1130300" y="190500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2003–2004</a:t>
            </a:r>
            <a:endParaRPr lang="en-US" sz="1400" dirty="0"/>
          </a:p>
        </p:txBody>
      </p:sp>
      <p:sp>
        <p:nvSpPr>
          <p:cNvPr id="7" name="Text 5"/>
          <p:cNvSpPr/>
          <p:nvPr/>
        </p:nvSpPr>
        <p:spPr>
          <a:xfrm>
            <a:off x="2603500" y="190500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Borg</a:t>
            </a:r>
            <a:endParaRPr lang="en-US" sz="1400" dirty="0"/>
          </a:p>
        </p:txBody>
      </p:sp>
      <p:sp>
        <p:nvSpPr>
          <p:cNvPr id="8" name="Text 6"/>
          <p:cNvSpPr/>
          <p:nvPr/>
        </p:nvSpPr>
        <p:spPr>
          <a:xfrm>
            <a:off x="4902200" y="190500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Google’s internal cluster manager runs its own services</a:t>
            </a:r>
            <a:endParaRPr lang="en-US" sz="1400" dirty="0"/>
          </a:p>
        </p:txBody>
      </p:sp>
      <p:sp>
        <p:nvSpPr>
          <p:cNvPr id="9" name="Shape 7"/>
          <p:cNvSpPr/>
          <p:nvPr/>
        </p:nvSpPr>
        <p:spPr>
          <a:xfrm>
            <a:off x="863600" y="2221230"/>
            <a:ext cx="12700" cy="139065"/>
          </a:xfrm>
          <a:prstGeom prst="rect">
            <a:avLst/>
          </a:prstGeom>
          <a:solidFill>
            <a:srgbClr val="C5CFDD"/>
          </a:solidFill>
          <a:ln/>
        </p:spPr>
      </p:sp>
      <p:sp>
        <p:nvSpPr>
          <p:cNvPr id="10" name="Shape 8"/>
          <p:cNvSpPr/>
          <p:nvPr/>
        </p:nvSpPr>
        <p:spPr>
          <a:xfrm>
            <a:off x="812800" y="2360295"/>
            <a:ext cx="114300" cy="114300"/>
          </a:xfrm>
          <a:prstGeom prst="roundRect">
            <a:avLst>
              <a:gd name="adj" fmla="val 50000"/>
            </a:avLst>
          </a:prstGeom>
          <a:solidFill>
            <a:srgbClr val="326CE5"/>
          </a:solidFill>
          <a:ln/>
        </p:spPr>
      </p:sp>
      <p:sp>
        <p:nvSpPr>
          <p:cNvPr id="11" name="Shape 9"/>
          <p:cNvSpPr/>
          <p:nvPr/>
        </p:nvSpPr>
        <p:spPr>
          <a:xfrm>
            <a:off x="863600" y="2474595"/>
            <a:ext cx="12700" cy="139065"/>
          </a:xfrm>
          <a:prstGeom prst="rect">
            <a:avLst/>
          </a:prstGeom>
          <a:solidFill>
            <a:srgbClr val="C5CFDD"/>
          </a:solidFill>
          <a:ln/>
        </p:spPr>
      </p:sp>
      <p:sp>
        <p:nvSpPr>
          <p:cNvPr id="12" name="Text 10"/>
          <p:cNvSpPr/>
          <p:nvPr/>
        </p:nvSpPr>
        <p:spPr>
          <a:xfrm>
            <a:off x="1130300" y="229743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2013</a:t>
            </a:r>
            <a:endParaRPr lang="en-US" sz="1400" dirty="0"/>
          </a:p>
        </p:txBody>
      </p:sp>
      <p:sp>
        <p:nvSpPr>
          <p:cNvPr id="13" name="Text 11"/>
          <p:cNvSpPr/>
          <p:nvPr/>
        </p:nvSpPr>
        <p:spPr>
          <a:xfrm>
            <a:off x="2603500" y="229743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Docker</a:t>
            </a:r>
            <a:endParaRPr lang="en-US" sz="1400" dirty="0"/>
          </a:p>
        </p:txBody>
      </p:sp>
      <p:sp>
        <p:nvSpPr>
          <p:cNvPr id="14" name="Text 12"/>
          <p:cNvSpPr/>
          <p:nvPr/>
        </p:nvSpPr>
        <p:spPr>
          <a:xfrm>
            <a:off x="4902200" y="229743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Docker makes containers easy to package and run</a:t>
            </a:r>
            <a:endParaRPr lang="en-US" sz="1400" dirty="0"/>
          </a:p>
        </p:txBody>
      </p:sp>
      <p:sp>
        <p:nvSpPr>
          <p:cNvPr id="15" name="Shape 13"/>
          <p:cNvSpPr/>
          <p:nvPr/>
        </p:nvSpPr>
        <p:spPr>
          <a:xfrm>
            <a:off x="863600" y="2613660"/>
            <a:ext cx="12700" cy="139065"/>
          </a:xfrm>
          <a:prstGeom prst="rect">
            <a:avLst/>
          </a:prstGeom>
          <a:solidFill>
            <a:srgbClr val="C5CFDD"/>
          </a:solidFill>
          <a:ln/>
        </p:spPr>
      </p:sp>
      <p:sp>
        <p:nvSpPr>
          <p:cNvPr id="16" name="Shape 14"/>
          <p:cNvSpPr/>
          <p:nvPr/>
        </p:nvSpPr>
        <p:spPr>
          <a:xfrm>
            <a:off x="812800" y="2752725"/>
            <a:ext cx="114300" cy="114300"/>
          </a:xfrm>
          <a:prstGeom prst="roundRect">
            <a:avLst>
              <a:gd name="adj" fmla="val 50000"/>
            </a:avLst>
          </a:prstGeom>
          <a:solidFill>
            <a:srgbClr val="326CE5"/>
          </a:solidFill>
          <a:ln/>
        </p:spPr>
      </p:sp>
      <p:sp>
        <p:nvSpPr>
          <p:cNvPr id="17" name="Shape 15"/>
          <p:cNvSpPr/>
          <p:nvPr/>
        </p:nvSpPr>
        <p:spPr>
          <a:xfrm>
            <a:off x="863600" y="2867025"/>
            <a:ext cx="12700" cy="139065"/>
          </a:xfrm>
          <a:prstGeom prst="rect">
            <a:avLst/>
          </a:prstGeom>
          <a:solidFill>
            <a:srgbClr val="C5CFDD"/>
          </a:solidFill>
          <a:ln/>
        </p:spPr>
      </p:sp>
      <p:sp>
        <p:nvSpPr>
          <p:cNvPr id="18" name="Text 16"/>
          <p:cNvSpPr/>
          <p:nvPr/>
        </p:nvSpPr>
        <p:spPr>
          <a:xfrm>
            <a:off x="1130300" y="268986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June 2014</a:t>
            </a:r>
            <a:endParaRPr lang="en-US" sz="1400" dirty="0"/>
          </a:p>
        </p:txBody>
      </p:sp>
      <p:sp>
        <p:nvSpPr>
          <p:cNvPr id="19" name="Text 17"/>
          <p:cNvSpPr/>
          <p:nvPr/>
        </p:nvSpPr>
        <p:spPr>
          <a:xfrm>
            <a:off x="2603500" y="268986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Open-sourced</a:t>
            </a:r>
            <a:endParaRPr lang="en-US" sz="1400" dirty="0"/>
          </a:p>
        </p:txBody>
      </p:sp>
      <p:sp>
        <p:nvSpPr>
          <p:cNvPr id="20" name="Text 18"/>
          <p:cNvSpPr/>
          <p:nvPr/>
        </p:nvSpPr>
        <p:spPr>
          <a:xfrm>
            <a:off x="4902200" y="268986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Google releases it, built on lessons from Borg and Omega</a:t>
            </a:r>
            <a:endParaRPr lang="en-US" sz="1400" dirty="0"/>
          </a:p>
        </p:txBody>
      </p:sp>
      <p:sp>
        <p:nvSpPr>
          <p:cNvPr id="21" name="Shape 19"/>
          <p:cNvSpPr/>
          <p:nvPr/>
        </p:nvSpPr>
        <p:spPr>
          <a:xfrm>
            <a:off x="863600" y="3006090"/>
            <a:ext cx="12700" cy="259080"/>
          </a:xfrm>
          <a:prstGeom prst="rect">
            <a:avLst/>
          </a:prstGeom>
          <a:solidFill>
            <a:srgbClr val="C5CFDD"/>
          </a:solidFill>
          <a:ln/>
        </p:spPr>
      </p:sp>
      <p:sp>
        <p:nvSpPr>
          <p:cNvPr id="22" name="Shape 20"/>
          <p:cNvSpPr/>
          <p:nvPr/>
        </p:nvSpPr>
        <p:spPr>
          <a:xfrm>
            <a:off x="812800" y="3265170"/>
            <a:ext cx="114300" cy="114300"/>
          </a:xfrm>
          <a:prstGeom prst="roundRect">
            <a:avLst>
              <a:gd name="adj" fmla="val 50000"/>
            </a:avLst>
          </a:prstGeom>
          <a:solidFill>
            <a:srgbClr val="326CE5"/>
          </a:solidFill>
          <a:ln/>
        </p:spPr>
      </p:sp>
      <p:sp>
        <p:nvSpPr>
          <p:cNvPr id="23" name="Shape 21"/>
          <p:cNvSpPr/>
          <p:nvPr/>
        </p:nvSpPr>
        <p:spPr>
          <a:xfrm>
            <a:off x="863600" y="3379470"/>
            <a:ext cx="12700" cy="259080"/>
          </a:xfrm>
          <a:prstGeom prst="rect">
            <a:avLst/>
          </a:prstGeom>
          <a:solidFill>
            <a:srgbClr val="C5CFDD"/>
          </a:solidFill>
          <a:ln/>
        </p:spPr>
      </p:sp>
      <p:sp>
        <p:nvSpPr>
          <p:cNvPr id="24" name="Text 22"/>
          <p:cNvSpPr/>
          <p:nvPr/>
        </p:nvSpPr>
        <p:spPr>
          <a:xfrm>
            <a:off x="1130300" y="3202305"/>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July 2015</a:t>
            </a:r>
            <a:endParaRPr lang="en-US" sz="1400" dirty="0"/>
          </a:p>
        </p:txBody>
      </p:sp>
      <p:sp>
        <p:nvSpPr>
          <p:cNvPr id="25" name="Text 23"/>
          <p:cNvSpPr/>
          <p:nvPr/>
        </p:nvSpPr>
        <p:spPr>
          <a:xfrm>
            <a:off x="2603500" y="3202305"/>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Version 1.0</a:t>
            </a:r>
            <a:endParaRPr lang="en-US" sz="1400" dirty="0"/>
          </a:p>
        </p:txBody>
      </p:sp>
      <p:sp>
        <p:nvSpPr>
          <p:cNvPr id="26" name="Text 24"/>
          <p:cNvSpPr/>
          <p:nvPr/>
        </p:nvSpPr>
        <p:spPr>
          <a:xfrm>
            <a:off x="4902200" y="3082290"/>
            <a:ext cx="667131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First stable release; Google donates it to the newly formed Cloud Native Computing Foundation (CNCF)</a:t>
            </a:r>
            <a:endParaRPr lang="en-US" sz="1400" dirty="0"/>
          </a:p>
        </p:txBody>
      </p:sp>
      <p:sp>
        <p:nvSpPr>
          <p:cNvPr id="27" name="Shape 25"/>
          <p:cNvSpPr/>
          <p:nvPr/>
        </p:nvSpPr>
        <p:spPr>
          <a:xfrm>
            <a:off x="863600" y="3638550"/>
            <a:ext cx="12700" cy="139065"/>
          </a:xfrm>
          <a:prstGeom prst="rect">
            <a:avLst/>
          </a:prstGeom>
          <a:solidFill>
            <a:srgbClr val="C5CFDD"/>
          </a:solidFill>
          <a:ln/>
        </p:spPr>
      </p:sp>
      <p:sp>
        <p:nvSpPr>
          <p:cNvPr id="28" name="Shape 26"/>
          <p:cNvSpPr/>
          <p:nvPr/>
        </p:nvSpPr>
        <p:spPr>
          <a:xfrm>
            <a:off x="812800" y="3777615"/>
            <a:ext cx="114300" cy="114300"/>
          </a:xfrm>
          <a:prstGeom prst="roundRect">
            <a:avLst>
              <a:gd name="adj" fmla="val 50000"/>
            </a:avLst>
          </a:prstGeom>
          <a:solidFill>
            <a:srgbClr val="326CE5"/>
          </a:solidFill>
          <a:ln/>
        </p:spPr>
      </p:sp>
      <p:sp>
        <p:nvSpPr>
          <p:cNvPr id="29" name="Shape 27"/>
          <p:cNvSpPr/>
          <p:nvPr/>
        </p:nvSpPr>
        <p:spPr>
          <a:xfrm>
            <a:off x="863600" y="3891915"/>
            <a:ext cx="12700" cy="139065"/>
          </a:xfrm>
          <a:prstGeom prst="rect">
            <a:avLst/>
          </a:prstGeom>
          <a:solidFill>
            <a:srgbClr val="C5CFDD"/>
          </a:solidFill>
          <a:ln/>
        </p:spPr>
      </p:sp>
      <p:sp>
        <p:nvSpPr>
          <p:cNvPr id="30" name="Text 28"/>
          <p:cNvSpPr/>
          <p:nvPr/>
        </p:nvSpPr>
        <p:spPr>
          <a:xfrm>
            <a:off x="1130300" y="371475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2017</a:t>
            </a:r>
            <a:endParaRPr lang="en-US" sz="1400" dirty="0"/>
          </a:p>
        </p:txBody>
      </p:sp>
      <p:sp>
        <p:nvSpPr>
          <p:cNvPr id="31" name="Text 29"/>
          <p:cNvSpPr/>
          <p:nvPr/>
        </p:nvSpPr>
        <p:spPr>
          <a:xfrm>
            <a:off x="2603500" y="371475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Industry backing</a:t>
            </a:r>
            <a:endParaRPr lang="en-US" sz="1400" dirty="0"/>
          </a:p>
        </p:txBody>
      </p:sp>
      <p:sp>
        <p:nvSpPr>
          <p:cNvPr id="32" name="Text 30"/>
          <p:cNvSpPr/>
          <p:nvPr/>
        </p:nvSpPr>
        <p:spPr>
          <a:xfrm>
            <a:off x="4902200" y="371475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Docker, Amazon Web Services and Microsoft Azure announce support</a:t>
            </a:r>
            <a:endParaRPr lang="en-US" sz="1400" dirty="0"/>
          </a:p>
        </p:txBody>
      </p:sp>
      <p:sp>
        <p:nvSpPr>
          <p:cNvPr id="33" name="Shape 31"/>
          <p:cNvSpPr/>
          <p:nvPr/>
        </p:nvSpPr>
        <p:spPr>
          <a:xfrm>
            <a:off x="863600" y="4030980"/>
            <a:ext cx="12700" cy="139065"/>
          </a:xfrm>
          <a:prstGeom prst="rect">
            <a:avLst/>
          </a:prstGeom>
          <a:solidFill>
            <a:srgbClr val="C5CFDD"/>
          </a:solidFill>
          <a:ln/>
        </p:spPr>
      </p:sp>
      <p:sp>
        <p:nvSpPr>
          <p:cNvPr id="34" name="Shape 32"/>
          <p:cNvSpPr/>
          <p:nvPr/>
        </p:nvSpPr>
        <p:spPr>
          <a:xfrm>
            <a:off x="812800" y="4170045"/>
            <a:ext cx="114300" cy="114300"/>
          </a:xfrm>
          <a:prstGeom prst="roundRect">
            <a:avLst>
              <a:gd name="adj" fmla="val 50000"/>
            </a:avLst>
          </a:prstGeom>
          <a:solidFill>
            <a:srgbClr val="326CE5"/>
          </a:solidFill>
          <a:ln/>
        </p:spPr>
      </p:sp>
      <p:sp>
        <p:nvSpPr>
          <p:cNvPr id="35" name="Shape 33"/>
          <p:cNvSpPr/>
          <p:nvPr/>
        </p:nvSpPr>
        <p:spPr>
          <a:xfrm>
            <a:off x="863600" y="4284345"/>
            <a:ext cx="12700" cy="139065"/>
          </a:xfrm>
          <a:prstGeom prst="rect">
            <a:avLst/>
          </a:prstGeom>
          <a:solidFill>
            <a:srgbClr val="C5CFDD"/>
          </a:solidFill>
          <a:ln/>
        </p:spPr>
      </p:sp>
      <p:sp>
        <p:nvSpPr>
          <p:cNvPr id="36" name="Text 34"/>
          <p:cNvSpPr/>
          <p:nvPr/>
        </p:nvSpPr>
        <p:spPr>
          <a:xfrm>
            <a:off x="1130300" y="410718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March 2018</a:t>
            </a:r>
            <a:endParaRPr lang="en-US" sz="1400" dirty="0"/>
          </a:p>
        </p:txBody>
      </p:sp>
      <p:sp>
        <p:nvSpPr>
          <p:cNvPr id="37" name="Text 35"/>
          <p:cNvSpPr/>
          <p:nvPr/>
        </p:nvSpPr>
        <p:spPr>
          <a:xfrm>
            <a:off x="2603500" y="410718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Graduation</a:t>
            </a:r>
            <a:endParaRPr lang="en-US" sz="1400" dirty="0"/>
          </a:p>
        </p:txBody>
      </p:sp>
      <p:sp>
        <p:nvSpPr>
          <p:cNvPr id="38" name="Text 36"/>
          <p:cNvSpPr/>
          <p:nvPr/>
        </p:nvSpPr>
        <p:spPr>
          <a:xfrm>
            <a:off x="4902200" y="410718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The first project to graduate from the foundation</a:t>
            </a:r>
            <a:endParaRPr lang="en-US" sz="1400" dirty="0"/>
          </a:p>
        </p:txBody>
      </p:sp>
      <p:sp>
        <p:nvSpPr>
          <p:cNvPr id="39" name="Shape 37"/>
          <p:cNvSpPr/>
          <p:nvPr/>
        </p:nvSpPr>
        <p:spPr>
          <a:xfrm>
            <a:off x="863600" y="4423410"/>
            <a:ext cx="12700" cy="139065"/>
          </a:xfrm>
          <a:prstGeom prst="rect">
            <a:avLst/>
          </a:prstGeom>
          <a:solidFill>
            <a:srgbClr val="C5CFDD"/>
          </a:solidFill>
          <a:ln/>
        </p:spPr>
      </p:sp>
      <p:sp>
        <p:nvSpPr>
          <p:cNvPr id="40" name="Shape 38"/>
          <p:cNvSpPr/>
          <p:nvPr/>
        </p:nvSpPr>
        <p:spPr>
          <a:xfrm>
            <a:off x="812800" y="4562475"/>
            <a:ext cx="114300" cy="114300"/>
          </a:xfrm>
          <a:prstGeom prst="roundRect">
            <a:avLst>
              <a:gd name="adj" fmla="val 50000"/>
            </a:avLst>
          </a:prstGeom>
          <a:solidFill>
            <a:srgbClr val="326CE5"/>
          </a:solidFill>
          <a:ln/>
        </p:spPr>
      </p:sp>
      <p:sp>
        <p:nvSpPr>
          <p:cNvPr id="41" name="Shape 39"/>
          <p:cNvSpPr/>
          <p:nvPr/>
        </p:nvSpPr>
        <p:spPr>
          <a:xfrm>
            <a:off x="863600" y="4676775"/>
            <a:ext cx="12700" cy="139065"/>
          </a:xfrm>
          <a:prstGeom prst="rect">
            <a:avLst/>
          </a:prstGeom>
          <a:solidFill>
            <a:srgbClr val="C5CFDD"/>
          </a:solidFill>
          <a:ln/>
        </p:spPr>
      </p:sp>
      <p:sp>
        <p:nvSpPr>
          <p:cNvPr id="42" name="Text 40"/>
          <p:cNvSpPr/>
          <p:nvPr/>
        </p:nvSpPr>
        <p:spPr>
          <a:xfrm>
            <a:off x="1130300" y="449961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May 2022</a:t>
            </a:r>
            <a:endParaRPr lang="en-US" sz="1400" dirty="0"/>
          </a:p>
        </p:txBody>
      </p:sp>
      <p:sp>
        <p:nvSpPr>
          <p:cNvPr id="43" name="Text 41"/>
          <p:cNvSpPr/>
          <p:nvPr/>
        </p:nvSpPr>
        <p:spPr>
          <a:xfrm>
            <a:off x="2603500" y="449961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dockershim removed</a:t>
            </a:r>
            <a:endParaRPr lang="en-US" sz="1400" dirty="0"/>
          </a:p>
        </p:txBody>
      </p:sp>
      <p:sp>
        <p:nvSpPr>
          <p:cNvPr id="44" name="Text 42"/>
          <p:cNvSpPr/>
          <p:nvPr/>
        </p:nvSpPr>
        <p:spPr>
          <a:xfrm>
            <a:off x="4902200" y="449961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Version 1.24 drops built-in Docker Engine support; Docker images still run</a:t>
            </a:r>
            <a:endParaRPr lang="en-US" sz="1400" dirty="0"/>
          </a:p>
        </p:txBody>
      </p:sp>
      <p:sp>
        <p:nvSpPr>
          <p:cNvPr id="45" name="Shape 43"/>
          <p:cNvSpPr/>
          <p:nvPr/>
        </p:nvSpPr>
        <p:spPr>
          <a:xfrm>
            <a:off x="863600" y="4815840"/>
            <a:ext cx="12700" cy="139065"/>
          </a:xfrm>
          <a:prstGeom prst="rect">
            <a:avLst/>
          </a:prstGeom>
          <a:solidFill>
            <a:srgbClr val="C5CFDD"/>
          </a:solidFill>
          <a:ln/>
        </p:spPr>
      </p:sp>
      <p:sp>
        <p:nvSpPr>
          <p:cNvPr id="46" name="Shape 44"/>
          <p:cNvSpPr/>
          <p:nvPr/>
        </p:nvSpPr>
        <p:spPr>
          <a:xfrm>
            <a:off x="825500" y="4967605"/>
            <a:ext cx="88900" cy="88900"/>
          </a:xfrm>
          <a:prstGeom prst="roundRect">
            <a:avLst>
              <a:gd name="adj" fmla="val 50000"/>
            </a:avLst>
          </a:prstGeom>
          <a:solidFill>
            <a:srgbClr val="F4F6F9"/>
          </a:solidFill>
          <a:ln w="25400">
            <a:solidFill>
              <a:srgbClr val="326CE5"/>
            </a:solidFill>
            <a:prstDash val="solid"/>
          </a:ln>
        </p:spPr>
      </p:sp>
      <p:sp>
        <p:nvSpPr>
          <p:cNvPr id="47" name="Text 45"/>
          <p:cNvSpPr/>
          <p:nvPr/>
        </p:nvSpPr>
        <p:spPr>
          <a:xfrm>
            <a:off x="1130300" y="4892040"/>
            <a:ext cx="13208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B5FD0"/>
                </a:solidFill>
                <a:latin typeface="JetBrains Mono" pitchFamily="49" charset="0"/>
                <a:ea typeface="JetBrains Mono" pitchFamily="49" charset="-122"/>
                <a:cs typeface="JetBrains Mono" pitchFamily="49" charset="-120"/>
              </a:rPr>
              <a:t>August 2026</a:t>
            </a:r>
            <a:endParaRPr lang="en-US" sz="1400" dirty="0"/>
          </a:p>
        </p:txBody>
      </p:sp>
      <p:sp>
        <p:nvSpPr>
          <p:cNvPr id="48" name="Text 46"/>
          <p:cNvSpPr/>
          <p:nvPr/>
        </p:nvSpPr>
        <p:spPr>
          <a:xfrm>
            <a:off x="2603500" y="4892040"/>
            <a:ext cx="2158365"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Version 1.37</a:t>
            </a:r>
            <a:endParaRPr lang="en-US" sz="1400" dirty="0"/>
          </a:p>
        </p:txBody>
      </p:sp>
      <p:sp>
        <p:nvSpPr>
          <p:cNvPr id="49" name="Text 47"/>
          <p:cNvSpPr/>
          <p:nvPr/>
        </p:nvSpPr>
        <p:spPr>
          <a:xfrm>
            <a:off x="4902200" y="4892040"/>
            <a:ext cx="667131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Latest minor release, themed “Garhwal”; three ship each year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5FD0"/>
                </a:solidFill>
                <a:latin typeface="JetBrains Mono" pitchFamily="49" charset="0"/>
                <a:ea typeface="JetBrains Mono" pitchFamily="49" charset="-122"/>
                <a:cs typeface="JetBrains Mono" pitchFamily="49" charset="-120"/>
              </a:rPr>
              <a:t>ADVANTAGES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B2D"/>
                </a:solidFill>
                <a:latin typeface="IBM Plex Sans" pitchFamily="34" charset="0"/>
                <a:ea typeface="IBM Plex Sans" pitchFamily="34" charset="-122"/>
                <a:cs typeface="IBM Plex Sans" pitchFamily="34" charset="-120"/>
              </a:rPr>
              <a:t>What Kubernetes does for you</a:t>
            </a:r>
            <a:endParaRPr lang="en-US" sz="3200" dirty="0"/>
          </a:p>
        </p:txBody>
      </p:sp>
      <p:sp>
        <p:nvSpPr>
          <p:cNvPr id="4" name="Shape 2"/>
          <p:cNvSpPr/>
          <p:nvPr/>
        </p:nvSpPr>
        <p:spPr>
          <a:xfrm>
            <a:off x="815975" y="1831975"/>
            <a:ext cx="3397250" cy="1682750"/>
          </a:xfrm>
          <a:prstGeom prst="roundRect">
            <a:avLst>
              <a:gd name="adj" fmla="val 5849"/>
            </a:avLst>
          </a:prstGeom>
          <a:solidFill>
            <a:srgbClr val="FCFDFE"/>
          </a:solidFill>
          <a:ln w="6350">
            <a:solidFill>
              <a:srgbClr val="DCE2EA"/>
            </a:solidFill>
            <a:prstDash val="solid"/>
          </a:ln>
        </p:spPr>
      </p:sp>
      <p:sp>
        <p:nvSpPr>
          <p:cNvPr id="5" name="Shape 3"/>
          <p:cNvSpPr/>
          <p:nvPr/>
        </p:nvSpPr>
        <p:spPr>
          <a:xfrm>
            <a:off x="1071880" y="2062480"/>
            <a:ext cx="355600" cy="38100"/>
          </a:xfrm>
          <a:prstGeom prst="roundRect">
            <a:avLst>
              <a:gd name="adj" fmla="val 50000"/>
            </a:avLst>
          </a:prstGeom>
          <a:solidFill>
            <a:srgbClr val="326CE5"/>
          </a:solidFill>
          <a:ln/>
        </p:spPr>
      </p:sp>
      <p:sp>
        <p:nvSpPr>
          <p:cNvPr id="6" name="Text 4"/>
          <p:cNvSpPr/>
          <p:nvPr/>
        </p:nvSpPr>
        <p:spPr>
          <a:xfrm>
            <a:off x="1071880" y="2189480"/>
            <a:ext cx="29720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Self-healing</a:t>
            </a:r>
            <a:endParaRPr lang="en-US" sz="1700" dirty="0"/>
          </a:p>
        </p:txBody>
      </p:sp>
      <p:sp>
        <p:nvSpPr>
          <p:cNvPr id="7" name="Text 5"/>
          <p:cNvSpPr/>
          <p:nvPr/>
        </p:nvSpPr>
        <p:spPr>
          <a:xfrm>
            <a:off x="1071880" y="2537461"/>
            <a:ext cx="29720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Uses health checks to restart failed containers and replace Pods on lost nodes.</a:t>
            </a:r>
            <a:endParaRPr lang="en-US" sz="1400" dirty="0"/>
          </a:p>
        </p:txBody>
      </p:sp>
      <p:sp>
        <p:nvSpPr>
          <p:cNvPr id="8" name="Shape 6"/>
          <p:cNvSpPr/>
          <p:nvPr/>
        </p:nvSpPr>
        <p:spPr>
          <a:xfrm>
            <a:off x="4397375" y="1831975"/>
            <a:ext cx="3397250" cy="1682750"/>
          </a:xfrm>
          <a:prstGeom prst="roundRect">
            <a:avLst>
              <a:gd name="adj" fmla="val 5849"/>
            </a:avLst>
          </a:prstGeom>
          <a:solidFill>
            <a:srgbClr val="FCFDFE"/>
          </a:solidFill>
          <a:ln w="6350">
            <a:solidFill>
              <a:srgbClr val="DCE2EA"/>
            </a:solidFill>
            <a:prstDash val="solid"/>
          </a:ln>
        </p:spPr>
      </p:sp>
      <p:sp>
        <p:nvSpPr>
          <p:cNvPr id="9" name="Shape 7"/>
          <p:cNvSpPr/>
          <p:nvPr/>
        </p:nvSpPr>
        <p:spPr>
          <a:xfrm>
            <a:off x="4653280" y="2062480"/>
            <a:ext cx="355600" cy="38100"/>
          </a:xfrm>
          <a:prstGeom prst="roundRect">
            <a:avLst>
              <a:gd name="adj" fmla="val 50000"/>
            </a:avLst>
          </a:prstGeom>
          <a:solidFill>
            <a:srgbClr val="326CE5"/>
          </a:solidFill>
          <a:ln/>
        </p:spPr>
      </p:sp>
      <p:sp>
        <p:nvSpPr>
          <p:cNvPr id="10" name="Text 8"/>
          <p:cNvSpPr/>
          <p:nvPr/>
        </p:nvSpPr>
        <p:spPr>
          <a:xfrm>
            <a:off x="4653280" y="2189480"/>
            <a:ext cx="29720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Automatic scaling</a:t>
            </a:r>
            <a:endParaRPr lang="en-US" sz="1700" dirty="0"/>
          </a:p>
        </p:txBody>
      </p:sp>
      <p:sp>
        <p:nvSpPr>
          <p:cNvPr id="11" name="Text 9"/>
          <p:cNvSpPr/>
          <p:nvPr/>
        </p:nvSpPr>
        <p:spPr>
          <a:xfrm>
            <a:off x="4653280" y="2537461"/>
            <a:ext cx="29720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Adds or removes Pods as load changes. Node autoscalers resize the cluster itself.</a:t>
            </a:r>
            <a:endParaRPr lang="en-US" sz="1400" dirty="0"/>
          </a:p>
        </p:txBody>
      </p:sp>
      <p:sp>
        <p:nvSpPr>
          <p:cNvPr id="12" name="Shape 10"/>
          <p:cNvSpPr/>
          <p:nvPr/>
        </p:nvSpPr>
        <p:spPr>
          <a:xfrm>
            <a:off x="7978775" y="1831975"/>
            <a:ext cx="3397250" cy="1682750"/>
          </a:xfrm>
          <a:prstGeom prst="roundRect">
            <a:avLst>
              <a:gd name="adj" fmla="val 5849"/>
            </a:avLst>
          </a:prstGeom>
          <a:solidFill>
            <a:srgbClr val="FCFDFE"/>
          </a:solidFill>
          <a:ln w="6350">
            <a:solidFill>
              <a:srgbClr val="DCE2EA"/>
            </a:solidFill>
            <a:prstDash val="solid"/>
          </a:ln>
        </p:spPr>
      </p:sp>
      <p:sp>
        <p:nvSpPr>
          <p:cNvPr id="13" name="Shape 11"/>
          <p:cNvSpPr/>
          <p:nvPr/>
        </p:nvSpPr>
        <p:spPr>
          <a:xfrm>
            <a:off x="8234680" y="2062480"/>
            <a:ext cx="355600" cy="38100"/>
          </a:xfrm>
          <a:prstGeom prst="roundRect">
            <a:avLst>
              <a:gd name="adj" fmla="val 50000"/>
            </a:avLst>
          </a:prstGeom>
          <a:solidFill>
            <a:srgbClr val="326CE5"/>
          </a:solidFill>
          <a:ln/>
        </p:spPr>
      </p:sp>
      <p:sp>
        <p:nvSpPr>
          <p:cNvPr id="14" name="Text 12"/>
          <p:cNvSpPr/>
          <p:nvPr/>
        </p:nvSpPr>
        <p:spPr>
          <a:xfrm>
            <a:off x="8234680" y="2189480"/>
            <a:ext cx="29720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Rolling updates</a:t>
            </a:r>
            <a:endParaRPr lang="en-US" sz="1700" dirty="0"/>
          </a:p>
        </p:txBody>
      </p:sp>
      <p:sp>
        <p:nvSpPr>
          <p:cNvPr id="15" name="Text 13"/>
          <p:cNvSpPr/>
          <p:nvPr/>
        </p:nvSpPr>
        <p:spPr>
          <a:xfrm>
            <a:off x="8234680" y="2537461"/>
            <a:ext cx="29720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Replaces Pods gradually during a release and rolls back with one command.</a:t>
            </a:r>
            <a:endParaRPr lang="en-US" sz="1400" dirty="0"/>
          </a:p>
        </p:txBody>
      </p:sp>
      <p:sp>
        <p:nvSpPr>
          <p:cNvPr id="16" name="Shape 14"/>
          <p:cNvSpPr/>
          <p:nvPr/>
        </p:nvSpPr>
        <p:spPr>
          <a:xfrm>
            <a:off x="815975" y="3698875"/>
            <a:ext cx="3397250" cy="1682750"/>
          </a:xfrm>
          <a:prstGeom prst="roundRect">
            <a:avLst>
              <a:gd name="adj" fmla="val 5849"/>
            </a:avLst>
          </a:prstGeom>
          <a:solidFill>
            <a:srgbClr val="FCFDFE"/>
          </a:solidFill>
          <a:ln w="6350">
            <a:solidFill>
              <a:srgbClr val="DCE2EA"/>
            </a:solidFill>
            <a:prstDash val="solid"/>
          </a:ln>
        </p:spPr>
      </p:sp>
      <p:sp>
        <p:nvSpPr>
          <p:cNvPr id="17" name="Shape 15"/>
          <p:cNvSpPr/>
          <p:nvPr/>
        </p:nvSpPr>
        <p:spPr>
          <a:xfrm>
            <a:off x="1071880" y="3929380"/>
            <a:ext cx="355600" cy="38100"/>
          </a:xfrm>
          <a:prstGeom prst="roundRect">
            <a:avLst>
              <a:gd name="adj" fmla="val 50000"/>
            </a:avLst>
          </a:prstGeom>
          <a:solidFill>
            <a:srgbClr val="326CE5"/>
          </a:solidFill>
          <a:ln/>
        </p:spPr>
      </p:sp>
      <p:sp>
        <p:nvSpPr>
          <p:cNvPr id="18" name="Text 16"/>
          <p:cNvSpPr/>
          <p:nvPr/>
        </p:nvSpPr>
        <p:spPr>
          <a:xfrm>
            <a:off x="1071880" y="4056380"/>
            <a:ext cx="29720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Service discovery</a:t>
            </a:r>
            <a:endParaRPr lang="en-US" sz="1700" dirty="0"/>
          </a:p>
        </p:txBody>
      </p:sp>
      <p:sp>
        <p:nvSpPr>
          <p:cNvPr id="19" name="Text 17"/>
          <p:cNvSpPr/>
          <p:nvPr/>
        </p:nvSpPr>
        <p:spPr>
          <a:xfrm>
            <a:off x="1071880" y="4404361"/>
            <a:ext cx="29720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Gives each Service a stable DNS name and spreads requests across its Pods.</a:t>
            </a:r>
            <a:endParaRPr lang="en-US" sz="1400" dirty="0"/>
          </a:p>
        </p:txBody>
      </p:sp>
      <p:sp>
        <p:nvSpPr>
          <p:cNvPr id="20" name="Shape 18"/>
          <p:cNvSpPr/>
          <p:nvPr/>
        </p:nvSpPr>
        <p:spPr>
          <a:xfrm>
            <a:off x="4397375" y="3698875"/>
            <a:ext cx="3397250" cy="1682750"/>
          </a:xfrm>
          <a:prstGeom prst="roundRect">
            <a:avLst>
              <a:gd name="adj" fmla="val 5849"/>
            </a:avLst>
          </a:prstGeom>
          <a:solidFill>
            <a:srgbClr val="FCFDFE"/>
          </a:solidFill>
          <a:ln w="6350">
            <a:solidFill>
              <a:srgbClr val="DCE2EA"/>
            </a:solidFill>
            <a:prstDash val="solid"/>
          </a:ln>
        </p:spPr>
      </p:sp>
      <p:sp>
        <p:nvSpPr>
          <p:cNvPr id="21" name="Shape 19"/>
          <p:cNvSpPr/>
          <p:nvPr/>
        </p:nvSpPr>
        <p:spPr>
          <a:xfrm>
            <a:off x="4653280" y="3929380"/>
            <a:ext cx="355600" cy="38100"/>
          </a:xfrm>
          <a:prstGeom prst="roundRect">
            <a:avLst>
              <a:gd name="adj" fmla="val 50000"/>
            </a:avLst>
          </a:prstGeom>
          <a:solidFill>
            <a:srgbClr val="326CE5"/>
          </a:solidFill>
          <a:ln/>
        </p:spPr>
      </p:sp>
      <p:sp>
        <p:nvSpPr>
          <p:cNvPr id="22" name="Text 20"/>
          <p:cNvSpPr/>
          <p:nvPr/>
        </p:nvSpPr>
        <p:spPr>
          <a:xfrm>
            <a:off x="4653280" y="4056380"/>
            <a:ext cx="29720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Resource efficiency</a:t>
            </a:r>
            <a:endParaRPr lang="en-US" sz="1700" dirty="0"/>
          </a:p>
        </p:txBody>
      </p:sp>
      <p:sp>
        <p:nvSpPr>
          <p:cNvPr id="23" name="Text 21"/>
          <p:cNvSpPr/>
          <p:nvPr/>
        </p:nvSpPr>
        <p:spPr>
          <a:xfrm>
            <a:off x="4653280" y="4404361"/>
            <a:ext cx="29720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Packs Pods onto nodes by CPU and memory requests, so less capacity sits idle.</a:t>
            </a:r>
            <a:endParaRPr lang="en-US" sz="1400" dirty="0"/>
          </a:p>
        </p:txBody>
      </p:sp>
      <p:sp>
        <p:nvSpPr>
          <p:cNvPr id="24" name="Shape 22"/>
          <p:cNvSpPr/>
          <p:nvPr/>
        </p:nvSpPr>
        <p:spPr>
          <a:xfrm>
            <a:off x="7978775" y="3698875"/>
            <a:ext cx="3397250" cy="1682750"/>
          </a:xfrm>
          <a:prstGeom prst="roundRect">
            <a:avLst>
              <a:gd name="adj" fmla="val 5849"/>
            </a:avLst>
          </a:prstGeom>
          <a:solidFill>
            <a:srgbClr val="FCFDFE"/>
          </a:solidFill>
          <a:ln w="6350">
            <a:solidFill>
              <a:srgbClr val="DCE2EA"/>
            </a:solidFill>
            <a:prstDash val="solid"/>
          </a:ln>
        </p:spPr>
      </p:sp>
      <p:sp>
        <p:nvSpPr>
          <p:cNvPr id="25" name="Shape 23"/>
          <p:cNvSpPr/>
          <p:nvPr/>
        </p:nvSpPr>
        <p:spPr>
          <a:xfrm>
            <a:off x="8234680" y="3929380"/>
            <a:ext cx="355600" cy="38100"/>
          </a:xfrm>
          <a:prstGeom prst="roundRect">
            <a:avLst>
              <a:gd name="adj" fmla="val 50000"/>
            </a:avLst>
          </a:prstGeom>
          <a:solidFill>
            <a:srgbClr val="326CE5"/>
          </a:solidFill>
          <a:ln/>
        </p:spPr>
      </p:sp>
      <p:sp>
        <p:nvSpPr>
          <p:cNvPr id="26" name="Text 24"/>
          <p:cNvSpPr/>
          <p:nvPr/>
        </p:nvSpPr>
        <p:spPr>
          <a:xfrm>
            <a:off x="8234680" y="4056380"/>
            <a:ext cx="29720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Portability</a:t>
            </a:r>
            <a:endParaRPr lang="en-US" sz="1700" dirty="0"/>
          </a:p>
        </p:txBody>
      </p:sp>
      <p:sp>
        <p:nvSpPr>
          <p:cNvPr id="27" name="Text 25"/>
          <p:cNvSpPr/>
          <p:nvPr/>
        </p:nvSpPr>
        <p:spPr>
          <a:xfrm>
            <a:off x="8234680" y="4404361"/>
            <a:ext cx="29720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The same manifests run on any conformant cluster, on-premises or in any cloud.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5FD0"/>
                </a:solidFill>
                <a:latin typeface="JetBrains Mono" pitchFamily="49" charset="0"/>
                <a:ea typeface="JetBrains Mono" pitchFamily="49" charset="-122"/>
                <a:cs typeface="JetBrains Mono" pitchFamily="49" charset="-120"/>
              </a:rPr>
              <a:t>WHEN TO USE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B2D"/>
                </a:solidFill>
                <a:latin typeface="IBM Plex Sans" pitchFamily="34" charset="0"/>
                <a:ea typeface="IBM Plex Sans" pitchFamily="34" charset="-122"/>
                <a:cs typeface="IBM Plex Sans" pitchFamily="34" charset="-120"/>
              </a:rPr>
              <a:t>When Kubernetes is the right fit</a:t>
            </a:r>
            <a:endParaRPr lang="en-US" sz="3200" dirty="0"/>
          </a:p>
        </p:txBody>
      </p:sp>
      <p:sp>
        <p:nvSpPr>
          <p:cNvPr id="4" name="Shape 2"/>
          <p:cNvSpPr/>
          <p:nvPr/>
        </p:nvSpPr>
        <p:spPr>
          <a:xfrm>
            <a:off x="815975" y="1831975"/>
            <a:ext cx="5175250" cy="3186430"/>
          </a:xfrm>
          <a:prstGeom prst="roundRect">
            <a:avLst>
              <a:gd name="adj" fmla="val 3089"/>
            </a:avLst>
          </a:prstGeom>
          <a:solidFill>
            <a:srgbClr val="FCFDFE"/>
          </a:solidFill>
          <a:ln w="6350">
            <a:solidFill>
              <a:srgbClr val="DCE2EA"/>
            </a:solidFill>
            <a:prstDash val="solid"/>
          </a:ln>
        </p:spPr>
      </p:sp>
      <p:sp>
        <p:nvSpPr>
          <p:cNvPr id="5" name="Text 3"/>
          <p:cNvSpPr/>
          <p:nvPr/>
        </p:nvSpPr>
        <p:spPr>
          <a:xfrm>
            <a:off x="1097280" y="2062480"/>
            <a:ext cx="47510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B5FD0"/>
                </a:solidFill>
                <a:latin typeface="IBM Plex Sans" pitchFamily="34" charset="0"/>
                <a:ea typeface="IBM Plex Sans" pitchFamily="34" charset="-122"/>
                <a:cs typeface="IBM Plex Sans" pitchFamily="34" charset="-120"/>
              </a:rPr>
              <a:t>Good fit</a:t>
            </a:r>
            <a:endParaRPr lang="en-US" sz="1700" dirty="0"/>
          </a:p>
        </p:txBody>
      </p:sp>
      <p:sp>
        <p:nvSpPr>
          <p:cNvPr id="6" name="Text 4"/>
          <p:cNvSpPr/>
          <p:nvPr/>
        </p:nvSpPr>
        <p:spPr>
          <a:xfrm>
            <a:off x="1097280" y="2473961"/>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Many services</a:t>
            </a:r>
            <a:endParaRPr lang="en-US" sz="1400" dirty="0"/>
          </a:p>
        </p:txBody>
      </p:sp>
      <p:sp>
        <p:nvSpPr>
          <p:cNvPr id="7" name="Text 5"/>
          <p:cNvSpPr/>
          <p:nvPr/>
        </p:nvSpPr>
        <p:spPr>
          <a:xfrm>
            <a:off x="1097280" y="2726691"/>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Microservices that scale independently</a:t>
            </a:r>
            <a:endParaRPr lang="en-US" sz="1400" dirty="0"/>
          </a:p>
        </p:txBody>
      </p:sp>
      <p:sp>
        <p:nvSpPr>
          <p:cNvPr id="8" name="Text 6"/>
          <p:cNvSpPr/>
          <p:nvPr/>
        </p:nvSpPr>
        <p:spPr>
          <a:xfrm>
            <a:off x="1097280" y="3081020"/>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Variable traffic</a:t>
            </a:r>
            <a:endParaRPr lang="en-US" sz="1400" dirty="0"/>
          </a:p>
        </p:txBody>
      </p:sp>
      <p:sp>
        <p:nvSpPr>
          <p:cNvPr id="9" name="Text 7"/>
          <p:cNvSpPr/>
          <p:nvPr/>
        </p:nvSpPr>
        <p:spPr>
          <a:xfrm>
            <a:off x="1097280" y="3333750"/>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Needs autoscaling and automatic failover</a:t>
            </a:r>
            <a:endParaRPr lang="en-US" sz="1400" dirty="0"/>
          </a:p>
        </p:txBody>
      </p:sp>
      <p:sp>
        <p:nvSpPr>
          <p:cNvPr id="10" name="Text 8"/>
          <p:cNvSpPr/>
          <p:nvPr/>
        </p:nvSpPr>
        <p:spPr>
          <a:xfrm>
            <a:off x="1097280" y="3688080"/>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Frequent releases</a:t>
            </a:r>
            <a:endParaRPr lang="en-US" sz="1400" dirty="0"/>
          </a:p>
        </p:txBody>
      </p:sp>
      <p:sp>
        <p:nvSpPr>
          <p:cNvPr id="11" name="Text 9"/>
          <p:cNvSpPr/>
          <p:nvPr/>
        </p:nvSpPr>
        <p:spPr>
          <a:xfrm>
            <a:off x="1097280" y="3940811"/>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Teams shipping often through CI/CD</a:t>
            </a:r>
            <a:endParaRPr lang="en-US" sz="1400" dirty="0"/>
          </a:p>
        </p:txBody>
      </p:sp>
      <p:sp>
        <p:nvSpPr>
          <p:cNvPr id="12" name="Text 10"/>
          <p:cNvSpPr/>
          <p:nvPr/>
        </p:nvSpPr>
        <p:spPr>
          <a:xfrm>
            <a:off x="1097280" y="4295141"/>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Hybrid or multi-cloud</a:t>
            </a:r>
            <a:endParaRPr lang="en-US" sz="1400" dirty="0"/>
          </a:p>
        </p:txBody>
      </p:sp>
      <p:sp>
        <p:nvSpPr>
          <p:cNvPr id="13" name="Text 11"/>
          <p:cNvSpPr/>
          <p:nvPr/>
        </p:nvSpPr>
        <p:spPr>
          <a:xfrm>
            <a:off x="1097280" y="4547870"/>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One way to deploy across environments</a:t>
            </a:r>
            <a:endParaRPr lang="en-US" sz="1400" dirty="0"/>
          </a:p>
        </p:txBody>
      </p:sp>
      <p:sp>
        <p:nvSpPr>
          <p:cNvPr id="14" name="Shape 12"/>
          <p:cNvSpPr/>
          <p:nvPr/>
        </p:nvSpPr>
        <p:spPr>
          <a:xfrm>
            <a:off x="6200775" y="1831975"/>
            <a:ext cx="5175250" cy="3186430"/>
          </a:xfrm>
          <a:prstGeom prst="roundRect">
            <a:avLst>
              <a:gd name="adj" fmla="val 3089"/>
            </a:avLst>
          </a:prstGeom>
          <a:solidFill>
            <a:srgbClr val="FCFDFE"/>
          </a:solidFill>
          <a:ln w="6350">
            <a:solidFill>
              <a:srgbClr val="DCE2EA"/>
            </a:solidFill>
            <a:prstDash val="solid"/>
          </a:ln>
        </p:spPr>
      </p:sp>
      <p:sp>
        <p:nvSpPr>
          <p:cNvPr id="15" name="Text 13"/>
          <p:cNvSpPr/>
          <p:nvPr/>
        </p:nvSpPr>
        <p:spPr>
          <a:xfrm>
            <a:off x="6482080" y="2062480"/>
            <a:ext cx="47510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A3520C"/>
                </a:solidFill>
                <a:latin typeface="IBM Plex Sans" pitchFamily="34" charset="0"/>
                <a:ea typeface="IBM Plex Sans" pitchFamily="34" charset="-122"/>
                <a:cs typeface="IBM Plex Sans" pitchFamily="34" charset="-120"/>
              </a:rPr>
              <a:t>Think twice</a:t>
            </a:r>
            <a:endParaRPr lang="en-US" sz="1700" dirty="0"/>
          </a:p>
        </p:txBody>
      </p:sp>
      <p:sp>
        <p:nvSpPr>
          <p:cNvPr id="16" name="Text 14"/>
          <p:cNvSpPr/>
          <p:nvPr/>
        </p:nvSpPr>
        <p:spPr>
          <a:xfrm>
            <a:off x="6482080" y="2473961"/>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One app or a few containers</a:t>
            </a:r>
            <a:endParaRPr lang="en-US" sz="1400" dirty="0"/>
          </a:p>
        </p:txBody>
      </p:sp>
      <p:sp>
        <p:nvSpPr>
          <p:cNvPr id="17" name="Text 15"/>
          <p:cNvSpPr/>
          <p:nvPr/>
        </p:nvSpPr>
        <p:spPr>
          <a:xfrm>
            <a:off x="6482080" y="2726691"/>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Docker Compose or a single VM is simpler</a:t>
            </a:r>
            <a:endParaRPr lang="en-US" sz="1400" dirty="0"/>
          </a:p>
        </p:txBody>
      </p:sp>
      <p:sp>
        <p:nvSpPr>
          <p:cNvPr id="18" name="Text 16"/>
          <p:cNvSpPr/>
          <p:nvPr/>
        </p:nvSpPr>
        <p:spPr>
          <a:xfrm>
            <a:off x="6482080" y="3081020"/>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A small team without ops skills</a:t>
            </a:r>
            <a:endParaRPr lang="en-US" sz="1400" dirty="0"/>
          </a:p>
        </p:txBody>
      </p:sp>
      <p:sp>
        <p:nvSpPr>
          <p:cNvPr id="19" name="Text 17"/>
          <p:cNvSpPr/>
          <p:nvPr/>
        </p:nvSpPr>
        <p:spPr>
          <a:xfrm>
            <a:off x="6482080" y="3333750"/>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A PaaS like Cloud Run or Azure App Service</a:t>
            </a:r>
            <a:endParaRPr lang="en-US" sz="1400" dirty="0"/>
          </a:p>
        </p:txBody>
      </p:sp>
      <p:sp>
        <p:nvSpPr>
          <p:cNvPr id="20" name="Text 18"/>
          <p:cNvSpPr/>
          <p:nvPr/>
        </p:nvSpPr>
        <p:spPr>
          <a:xfrm>
            <a:off x="6482080" y="3688080"/>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Short, event-driven jobs</a:t>
            </a:r>
            <a:endParaRPr lang="en-US" sz="1400" dirty="0"/>
          </a:p>
        </p:txBody>
      </p:sp>
      <p:sp>
        <p:nvSpPr>
          <p:cNvPr id="21" name="Text 19"/>
          <p:cNvSpPr/>
          <p:nvPr/>
        </p:nvSpPr>
        <p:spPr>
          <a:xfrm>
            <a:off x="6482080" y="3940811"/>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Serverless functions such as AWS Lambda</a:t>
            </a:r>
            <a:endParaRPr lang="en-US" sz="1400" dirty="0"/>
          </a:p>
        </p:txBody>
      </p:sp>
      <p:sp>
        <p:nvSpPr>
          <p:cNvPr id="22" name="Text 20"/>
          <p:cNvSpPr/>
          <p:nvPr/>
        </p:nvSpPr>
        <p:spPr>
          <a:xfrm>
            <a:off x="6482080" y="4295141"/>
            <a:ext cx="4751019"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F1B2D"/>
                </a:solidFill>
                <a:latin typeface="IBM Plex Sans" pitchFamily="34" charset="0"/>
                <a:ea typeface="IBM Plex Sans" pitchFamily="34" charset="-122"/>
                <a:cs typeface="IBM Plex Sans" pitchFamily="34" charset="-120"/>
              </a:rPr>
              <a:t>Low traffic, tight budget</a:t>
            </a:r>
            <a:endParaRPr lang="en-US" sz="1400" dirty="0"/>
          </a:p>
        </p:txBody>
      </p:sp>
      <p:sp>
        <p:nvSpPr>
          <p:cNvPr id="23" name="Text 21"/>
          <p:cNvSpPr/>
          <p:nvPr/>
        </p:nvSpPr>
        <p:spPr>
          <a:xfrm>
            <a:off x="6482080" y="4547870"/>
            <a:ext cx="475101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6546A"/>
                </a:solidFill>
                <a:latin typeface="IBM Plex Sans" pitchFamily="34" charset="0"/>
                <a:ea typeface="IBM Plex Sans" pitchFamily="34" charset="-122"/>
                <a:cs typeface="IBM Plex Sans" pitchFamily="34" charset="-120"/>
              </a:rPr>
              <a:t>Cluster overhead can outweigh the gains</a:t>
            </a:r>
            <a:endParaRPr lang="en-US" sz="1400" dirty="0"/>
          </a:p>
        </p:txBody>
      </p:sp>
      <p:sp>
        <p:nvSpPr>
          <p:cNvPr id="24" name="Text 22"/>
          <p:cNvSpPr/>
          <p:nvPr/>
        </p:nvSpPr>
        <p:spPr>
          <a:xfrm>
            <a:off x="812800" y="5275580"/>
            <a:ext cx="10566400" cy="528320"/>
          </a:xfrm>
          <a:prstGeom prst="roundRect">
            <a:avLst>
              <a:gd name="adj" fmla="val 14423"/>
            </a:avLst>
          </a:prstGeom>
          <a:solidFill>
            <a:srgbClr val="E6EDF8"/>
          </a:solidFill>
          <a:ln/>
        </p:spPr>
        <p:txBody>
          <a:bodyPr wrap="square" lIns="216442" tIns="117382" rIns="0" bIns="91982" rtlCol="0" anchor="t">
            <a:normAutofit/>
          </a:bodyPr>
          <a:lstStyle/>
          <a:p>
            <a:pPr algn="l" indent="0" marL="0">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Rule of thumb:</a:t>
            </a:r>
            <a:r>
              <a:rPr lang="en-US" sz="1400" dirty="0">
                <a:solidFill>
                  <a:srgbClr val="0F1B2D"/>
                </a:solidFill>
                <a:latin typeface="IBM Plex Sans" pitchFamily="34" charset="0"/>
                <a:ea typeface="IBM Plex Sans" pitchFamily="34" charset="-122"/>
                <a:cs typeface="IBM Plex Sans" pitchFamily="34" charset="-120"/>
              </a:rPr>
              <a:t> adopt it when managing containers by hand costs more than running a cluster.</a:t>
            </a:r>
            <a:endParaRPr lang="en-US" sz="1400" dirty="0"/>
          </a:p>
        </p:txBody>
      </p:sp>
      <p:sp>
        <p:nvSpPr>
          <p:cNvPr id="25" name="Shape 23"/>
          <p:cNvSpPr/>
          <p:nvPr/>
        </p:nvSpPr>
        <p:spPr>
          <a:xfrm>
            <a:off x="812800" y="5275580"/>
            <a:ext cx="10566400" cy="528320"/>
          </a:xfrm>
          <a:custGeom>
            <a:avLst/>
            <a:gdLst/>
            <a:ahLst/>
            <a:cxnLst/>
            <a:rect l="l" t="t" r="r" b="b"/>
            <a:pathLst>
              <a:path w="10566400" h="528320">
                <a:moveTo>
                  <a:pt x="76200" y="528320"/>
                </a:moveTo>
                <a:lnTo>
                  <a:pt x="76200" y="528320"/>
                </a:lnTo>
                <a:arcTo hR="76200" wR="76200" stAng="5400000" swAng="5400000"/>
                <a:lnTo>
                  <a:pt x="0" y="76200"/>
                </a:lnTo>
                <a:arcTo hR="76200" wR="76200" stAng="10800000" swAng="5400000"/>
                <a:lnTo>
                  <a:pt x="76200" y="0"/>
                </a:lnTo>
                <a:arcTo hR="76200" wR="38100" stAng="16200000" swAng="-5400000"/>
                <a:lnTo>
                  <a:pt x="38100" y="452120"/>
                </a:lnTo>
                <a:arcTo hR="76200" wR="38100" stAng="10800000" swAng="-5400000"/>
                <a:close/>
              </a:path>
            </a:pathLst>
          </a:custGeom>
          <a:solidFill>
            <a:srgbClr val="326CE5"/>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6261100" y="0"/>
            <a:ext cx="5930900" cy="6858000"/>
          </a:xfrm>
          <a:prstGeom prst="rect">
            <a:avLst/>
          </a:prstGeom>
          <a:solidFill>
            <a:srgbClr val="FCFCFB"/>
          </a:solidFill>
          <a:ln/>
        </p:spPr>
      </p:sp>
      <p:sp>
        <p:nvSpPr>
          <p:cNvPr id="3" name="Shape 1"/>
          <p:cNvSpPr/>
          <p:nvPr/>
        </p:nvSpPr>
        <p:spPr>
          <a:xfrm>
            <a:off x="6264275" y="0"/>
            <a:ext cx="0" cy="6858000"/>
          </a:xfrm>
          <a:prstGeom prst="line">
            <a:avLst/>
          </a:prstGeom>
          <a:noFill/>
          <a:ln w="6350">
            <a:solidFill>
              <a:srgbClr val="DCE2EA"/>
            </a:solidFill>
            <a:prstDash val="solid"/>
          </a:ln>
        </p:spPr>
      </p:sp>
      <p:pic>
        <p:nvPicPr>
          <p:cNvPr id="4" name="Image 0" descr="Kubernetes cluster architecture. kubectl sends requests to the API server on the control plane node, which also runs the scheduler, the controller manager and etcd. The worker node runs the kubelet and kube-proxy; the kubelet starts Pods through the container runtime interface, and each Pod holds one or more containers.">    </p:cNvPr>
          <p:cNvPicPr>
            <a:picLocks noChangeAspect="1"/>
          </p:cNvPicPr>
          <p:nvPr/>
        </p:nvPicPr>
        <p:blipFill>
          <a:blip r:embed="rId1"/>
          <a:srcRect l="-24" r="-24" t="0" b="0"/>
          <a:stretch/>
        </p:blipFill>
        <p:spPr>
          <a:xfrm>
            <a:off x="6515100" y="254000"/>
            <a:ext cx="5422900" cy="6350000"/>
          </a:xfrm>
          <a:prstGeom prst="rect">
            <a:avLst/>
          </a:prstGeom>
        </p:spPr>
      </p:pic>
      <p:sp>
        <p:nvSpPr>
          <p:cNvPr id="5" name="Text 2"/>
          <p:cNvSpPr/>
          <p:nvPr/>
        </p:nvSpPr>
        <p:spPr>
          <a:xfrm>
            <a:off x="812800" y="812800"/>
            <a:ext cx="498386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B5FD0"/>
                </a:solidFill>
                <a:latin typeface="JetBrains Mono" pitchFamily="49" charset="0"/>
                <a:ea typeface="JetBrains Mono" pitchFamily="49" charset="-122"/>
                <a:cs typeface="JetBrains Mono" pitchFamily="49" charset="-120"/>
              </a:rPr>
              <a:t>ARCHITECTURE</a:t>
            </a:r>
            <a:endParaRPr lang="en-US" sz="1200" dirty="0"/>
          </a:p>
        </p:txBody>
      </p:sp>
      <p:sp>
        <p:nvSpPr>
          <p:cNvPr id="6" name="Text 3"/>
          <p:cNvSpPr/>
          <p:nvPr>
            <p:ph type="title"/>
          </p:nvPr>
        </p:nvSpPr>
        <p:spPr>
          <a:xfrm>
            <a:off x="812800" y="1127761"/>
            <a:ext cx="4983861"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F1B2D"/>
                </a:solidFill>
                <a:latin typeface="IBM Plex Sans" pitchFamily="34" charset="0"/>
                <a:ea typeface="IBM Plex Sans" pitchFamily="34" charset="-122"/>
                <a:cs typeface="IBM Plex Sans" pitchFamily="34" charset="-120"/>
              </a:rPr>
              <a:t>How a cluster works</a:t>
            </a:r>
            <a:endParaRPr lang="en-US" sz="3200" dirty="0"/>
          </a:p>
        </p:txBody>
      </p:sp>
      <p:sp>
        <p:nvSpPr>
          <p:cNvPr id="7" name="Text 4"/>
          <p:cNvSpPr/>
          <p:nvPr/>
        </p:nvSpPr>
        <p:spPr>
          <a:xfrm>
            <a:off x="812800" y="182880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D0"/>
                </a:solidFill>
                <a:latin typeface="JetBrains Mono" pitchFamily="49" charset="0"/>
                <a:ea typeface="JetBrains Mono" pitchFamily="49" charset="-122"/>
                <a:cs typeface="JetBrains Mono" pitchFamily="49" charset="-120"/>
              </a:rPr>
              <a:t>01</a:t>
            </a:r>
            <a:endParaRPr lang="en-US" sz="1400" dirty="0"/>
          </a:p>
        </p:txBody>
      </p:sp>
      <p:sp>
        <p:nvSpPr>
          <p:cNvPr id="8" name="Text 5"/>
          <p:cNvSpPr/>
          <p:nvPr/>
        </p:nvSpPr>
        <p:spPr>
          <a:xfrm>
            <a:off x="1320800" y="1828800"/>
            <a:ext cx="446062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46A"/>
                </a:solidFill>
                <a:latin typeface="IBM Plex Sans" pitchFamily="34" charset="0"/>
                <a:ea typeface="IBM Plex Sans" pitchFamily="34" charset="-122"/>
                <a:cs typeface="IBM Plex Sans" pitchFamily="34" charset="-120"/>
              </a:rPr>
              <a:t>kubectl</a:t>
            </a:r>
            <a:r>
              <a:rPr lang="en-US" sz="1400" dirty="0">
                <a:solidFill>
                  <a:srgbClr val="46546A"/>
                </a:solidFill>
                <a:latin typeface="IBM Plex Sans" pitchFamily="34" charset="0"/>
                <a:ea typeface="IBM Plex Sans" pitchFamily="34" charset="-122"/>
                <a:cs typeface="IBM Plex Sans" pitchFamily="34" charset="-120"/>
              </a:rPr>
              <a:t> sends each request to the </a:t>
            </a:r>
            <a:r>
              <a:rPr lang="en-US" sz="1400" b="1" dirty="0">
                <a:solidFill>
                  <a:srgbClr val="46546A"/>
                </a:solidFill>
                <a:latin typeface="IBM Plex Sans" pitchFamily="34" charset="0"/>
                <a:ea typeface="IBM Plex Sans" pitchFamily="34" charset="-122"/>
                <a:cs typeface="IBM Plex Sans" pitchFamily="34" charset="-120"/>
              </a:rPr>
              <a:t>API server</a:t>
            </a:r>
            <a:r>
              <a:rPr lang="en-US" sz="1400" dirty="0">
                <a:solidFill>
                  <a:srgbClr val="46546A"/>
                </a:solidFill>
                <a:latin typeface="IBM Plex Sans" pitchFamily="34" charset="0"/>
                <a:ea typeface="IBM Plex Sans" pitchFamily="34" charset="-122"/>
                <a:cs typeface="IBM Plex Sans" pitchFamily="34" charset="-120"/>
              </a:rPr>
              <a:t>, which records cluster state in </a:t>
            </a:r>
            <a:r>
              <a:rPr lang="en-US" sz="1400" b="1" dirty="0">
                <a:solidFill>
                  <a:srgbClr val="46546A"/>
                </a:solidFill>
                <a:latin typeface="IBM Plex Sans" pitchFamily="34" charset="0"/>
                <a:ea typeface="IBM Plex Sans" pitchFamily="34" charset="-122"/>
                <a:cs typeface="IBM Plex Sans" pitchFamily="34" charset="-120"/>
              </a:rPr>
              <a:t>etcd</a:t>
            </a:r>
            <a:r>
              <a:rPr lang="en-US" sz="1400" dirty="0">
                <a:solidFill>
                  <a:srgbClr val="46546A"/>
                </a:solidFill>
                <a:latin typeface="IBM Plex Sans" pitchFamily="34" charset="0"/>
                <a:ea typeface="IBM Plex Sans" pitchFamily="34" charset="-122"/>
                <a:cs typeface="IBM Plex Sans" pitchFamily="34" charset="-120"/>
              </a:rPr>
              <a:t>.</a:t>
            </a:r>
            <a:endParaRPr lang="en-US" sz="1400" dirty="0"/>
          </a:p>
        </p:txBody>
      </p:sp>
      <p:sp>
        <p:nvSpPr>
          <p:cNvPr id="9" name="Text 6"/>
          <p:cNvSpPr/>
          <p:nvPr/>
        </p:nvSpPr>
        <p:spPr>
          <a:xfrm>
            <a:off x="812800" y="2504439"/>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D0"/>
                </a:solidFill>
                <a:latin typeface="JetBrains Mono" pitchFamily="49" charset="0"/>
                <a:ea typeface="JetBrains Mono" pitchFamily="49" charset="-122"/>
                <a:cs typeface="JetBrains Mono" pitchFamily="49" charset="-120"/>
              </a:rPr>
              <a:t>02</a:t>
            </a:r>
            <a:endParaRPr lang="en-US" sz="1400" dirty="0"/>
          </a:p>
        </p:txBody>
      </p:sp>
      <p:sp>
        <p:nvSpPr>
          <p:cNvPr id="10" name="Text 7"/>
          <p:cNvSpPr/>
          <p:nvPr/>
        </p:nvSpPr>
        <p:spPr>
          <a:xfrm>
            <a:off x="1320800" y="2504439"/>
            <a:ext cx="446062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The </a:t>
            </a:r>
            <a:r>
              <a:rPr lang="en-US" sz="1400" b="1" dirty="0">
                <a:solidFill>
                  <a:srgbClr val="46546A"/>
                </a:solidFill>
                <a:latin typeface="IBM Plex Sans" pitchFamily="34" charset="0"/>
                <a:ea typeface="IBM Plex Sans" pitchFamily="34" charset="-122"/>
                <a:cs typeface="IBM Plex Sans" pitchFamily="34" charset="-120"/>
              </a:rPr>
              <a:t>scheduler</a:t>
            </a:r>
            <a:r>
              <a:rPr lang="en-US" sz="1400" dirty="0">
                <a:solidFill>
                  <a:srgbClr val="46546A"/>
                </a:solidFill>
                <a:latin typeface="IBM Plex Sans" pitchFamily="34" charset="0"/>
                <a:ea typeface="IBM Plex Sans" pitchFamily="34" charset="-122"/>
                <a:cs typeface="IBM Plex Sans" pitchFamily="34" charset="-120"/>
              </a:rPr>
              <a:t> assigns new Pods to nodes, and the </a:t>
            </a:r>
            <a:r>
              <a:rPr lang="en-US" sz="1400" b="1" dirty="0">
                <a:solidFill>
                  <a:srgbClr val="46546A"/>
                </a:solidFill>
                <a:latin typeface="IBM Plex Sans" pitchFamily="34" charset="0"/>
                <a:ea typeface="IBM Plex Sans" pitchFamily="34" charset="-122"/>
                <a:cs typeface="IBM Plex Sans" pitchFamily="34" charset="-120"/>
              </a:rPr>
              <a:t>controller manager</a:t>
            </a:r>
            <a:r>
              <a:rPr lang="en-US" sz="1400" dirty="0">
                <a:solidFill>
                  <a:srgbClr val="46546A"/>
                </a:solidFill>
                <a:latin typeface="IBM Plex Sans" pitchFamily="34" charset="0"/>
                <a:ea typeface="IBM Plex Sans" pitchFamily="34" charset="-122"/>
                <a:cs typeface="IBM Plex Sans" pitchFamily="34" charset="-120"/>
              </a:rPr>
              <a:t> keeps actual state matching desired state.</a:t>
            </a:r>
            <a:endParaRPr lang="en-US" sz="1400" dirty="0"/>
          </a:p>
        </p:txBody>
      </p:sp>
      <p:sp>
        <p:nvSpPr>
          <p:cNvPr id="11" name="Text 8"/>
          <p:cNvSpPr/>
          <p:nvPr/>
        </p:nvSpPr>
        <p:spPr>
          <a:xfrm>
            <a:off x="812800" y="342900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D0"/>
                </a:solidFill>
                <a:latin typeface="JetBrains Mono" pitchFamily="49" charset="0"/>
                <a:ea typeface="JetBrains Mono" pitchFamily="49" charset="-122"/>
                <a:cs typeface="JetBrains Mono" pitchFamily="49" charset="-120"/>
              </a:rPr>
              <a:t>03</a:t>
            </a:r>
            <a:endParaRPr lang="en-US" sz="1400" dirty="0"/>
          </a:p>
        </p:txBody>
      </p:sp>
      <p:sp>
        <p:nvSpPr>
          <p:cNvPr id="12" name="Text 9"/>
          <p:cNvSpPr/>
          <p:nvPr/>
        </p:nvSpPr>
        <p:spPr>
          <a:xfrm>
            <a:off x="1320800" y="3429000"/>
            <a:ext cx="446062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On the chosen node, the </a:t>
            </a:r>
            <a:r>
              <a:rPr lang="en-US" sz="1400" b="1" dirty="0">
                <a:solidFill>
                  <a:srgbClr val="46546A"/>
                </a:solidFill>
                <a:latin typeface="IBM Plex Sans" pitchFamily="34" charset="0"/>
                <a:ea typeface="IBM Plex Sans" pitchFamily="34" charset="-122"/>
                <a:cs typeface="IBM Plex Sans" pitchFamily="34" charset="-120"/>
              </a:rPr>
              <a:t>kubelet</a:t>
            </a:r>
            <a:r>
              <a:rPr lang="en-US" sz="1400" dirty="0">
                <a:solidFill>
                  <a:srgbClr val="46546A"/>
                </a:solidFill>
                <a:latin typeface="IBM Plex Sans" pitchFamily="34" charset="0"/>
                <a:ea typeface="IBM Plex Sans" pitchFamily="34" charset="-122"/>
                <a:cs typeface="IBM Plex Sans" pitchFamily="34" charset="-120"/>
              </a:rPr>
              <a:t> starts the Pod’s containers through the container runtime interface (CRI).</a:t>
            </a:r>
            <a:endParaRPr lang="en-US" sz="1400" dirty="0"/>
          </a:p>
        </p:txBody>
      </p:sp>
      <p:sp>
        <p:nvSpPr>
          <p:cNvPr id="13" name="Text 10"/>
          <p:cNvSpPr/>
          <p:nvPr/>
        </p:nvSpPr>
        <p:spPr>
          <a:xfrm>
            <a:off x="812800" y="4353561"/>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D0"/>
                </a:solidFill>
                <a:latin typeface="JetBrains Mono" pitchFamily="49" charset="0"/>
                <a:ea typeface="JetBrains Mono" pitchFamily="49" charset="-122"/>
                <a:cs typeface="JetBrains Mono" pitchFamily="49" charset="-120"/>
              </a:rPr>
              <a:t>04</a:t>
            </a:r>
            <a:endParaRPr lang="en-US" sz="1400" dirty="0"/>
          </a:p>
        </p:txBody>
      </p:sp>
      <p:sp>
        <p:nvSpPr>
          <p:cNvPr id="14" name="Text 11"/>
          <p:cNvSpPr/>
          <p:nvPr/>
        </p:nvSpPr>
        <p:spPr>
          <a:xfrm>
            <a:off x="1320800" y="4353561"/>
            <a:ext cx="446062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46A"/>
                </a:solidFill>
                <a:latin typeface="IBM Plex Sans" pitchFamily="34" charset="0"/>
                <a:ea typeface="IBM Plex Sans" pitchFamily="34" charset="-122"/>
                <a:cs typeface="IBM Plex Sans" pitchFamily="34" charset="-120"/>
              </a:rPr>
              <a:t>kube-proxy</a:t>
            </a:r>
            <a:r>
              <a:rPr lang="en-US" sz="1400" dirty="0">
                <a:solidFill>
                  <a:srgbClr val="46546A"/>
                </a:solidFill>
                <a:latin typeface="IBM Plex Sans" pitchFamily="34" charset="0"/>
                <a:ea typeface="IBM Plex Sans" pitchFamily="34" charset="-122"/>
                <a:cs typeface="IBM Plex Sans" pitchFamily="34" charset="-120"/>
              </a:rPr>
              <a:t> routes Service traffic to the right Pods.</a:t>
            </a:r>
            <a:endParaRPr lang="en-US" sz="1400" dirty="0"/>
          </a:p>
        </p:txBody>
      </p:sp>
    </p:spTree>
  </p:cSld>
  <p:clrMapOvr>
    <a:masterClrMapping/>
  </p:clrMapOvr>
</p:sld>
</file>

<file path=ppt/theme/theme1.xml><?xml version="1.0" encoding="utf-8"?>
<a:theme xmlns:a="http://schemas.openxmlformats.org/drawingml/2006/main" name="Introduction to Kubernetes">
  <a:themeElements>
    <a:clrScheme name="Introduction to Kubernetes">
      <a:dk1>
        <a:srgbClr val="46546A"/>
      </a:dk1>
      <a:lt1>
        <a:srgbClr val="F4F6F9"/>
      </a:lt1>
      <a:dk2>
        <a:srgbClr val="727D8E"/>
      </a:dk2>
      <a:lt2>
        <a:srgbClr val="E3E6EB"/>
      </a:lt2>
      <a:accent1>
        <a:srgbClr val="2B5FD0"/>
      </a:accent1>
      <a:accent2>
        <a:srgbClr val="326CE5"/>
      </a:accent2>
      <a:accent3>
        <a:srgbClr val="172840"/>
      </a:accent3>
      <a:accent4>
        <a:srgbClr val="8FB3FF"/>
      </a:accent4>
      <a:accent5>
        <a:srgbClr val="A3520C"/>
      </a:accent5>
      <a:accent6>
        <a:srgbClr val="0F1B2D"/>
      </a:accent6>
      <a:hlink>
        <a:srgbClr val="0563C1"/>
      </a:hlink>
      <a:folHlink>
        <a:srgbClr val="954F72"/>
      </a:folHlink>
    </a:clrScheme>
    <a:fontScheme name="Introduction to Kubernet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Kubernetes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2026-10-26T17:41:32Z</dcterms:created>
  <dcterms:modified xsi:type="dcterms:W3CDTF">2026-10-26T17:41:32Z</dcterms:modified>
</cp:coreProperties>
</file>